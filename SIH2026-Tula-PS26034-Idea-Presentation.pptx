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66928" y="1572768"/>
            <a:ext cx="960120" cy="34747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1719072"/>
            <a:ext cx="5010912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497D"/>
                </a:solidFill>
                <a:latin typeface="Times New Roman"/>
              </a:rPr>
              <a:t>TULA</a:t>
            </a:r>
            <a:r>
              <a:rPr sz="2600" b="1" i="0">
                <a:solidFill>
                  <a:srgbClr val="4F81BD"/>
                </a:solidFill>
                <a:latin typeface="Nirmala UI"/>
              </a:rPr>
              <a:t>  तुला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249424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7384"/>
                </a:solidFill>
                <a:latin typeface="Arial"/>
              </a:rPr>
              <a:t>A compliance engine for the Legal Metrology (Packaged Commodities) Rules, 2011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2615184"/>
            <a:ext cx="5010912" cy="12801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2761488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14">
                <a:solidFill>
                  <a:srgbClr val="627384"/>
                </a:solidFill>
                <a:latin typeface="Arial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926080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39"/>
                </a:solidFill>
                <a:latin typeface="Arial"/>
              </a:rPr>
              <a:t>26034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2761488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14">
                <a:solidFill>
                  <a:srgbClr val="627384"/>
                </a:solidFill>
                <a:latin typeface="Arial"/>
              </a:rPr>
              <a:t>PS CATEGORY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2926080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39"/>
                </a:solidFill>
                <a:latin typeface="Arial"/>
              </a:rPr>
              <a:t>Software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310128"/>
            <a:ext cx="5010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14">
                <a:solidFill>
                  <a:srgbClr val="627384"/>
                </a:solidFill>
                <a:latin typeface="Arial"/>
              </a:rPr>
              <a:t>PROBLEM STATEMENT TITLE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474720"/>
            <a:ext cx="50109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A39"/>
                </a:solidFill>
                <a:latin typeface="Arial"/>
              </a:rPr>
              <a:t>Software System to check compliance of Packaged Commodities under Legal Metrology (Packaged Commodities) Rules, 2011 by scanning products, images and labels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4169663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14">
                <a:solidFill>
                  <a:srgbClr val="627384"/>
                </a:solidFill>
                <a:latin typeface="Arial"/>
              </a:rPr>
              <a:t>THEME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433425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680E"/>
                </a:solidFill>
                <a:latin typeface="Arial"/>
              </a:rPr>
              <a:t>‹ Theme as listed on the portal 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4169663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14">
                <a:solidFill>
                  <a:srgbClr val="627384"/>
                </a:solidFill>
                <a:latin typeface="Arial"/>
              </a:rPr>
              <a:t>TEAM 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433425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680E"/>
                </a:solidFill>
                <a:latin typeface="Arial"/>
              </a:rPr>
              <a:t>‹ Team ID 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18304"/>
            <a:ext cx="5010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14">
                <a:solidFill>
                  <a:srgbClr val="627384"/>
                </a:solidFill>
                <a:latin typeface="Arial"/>
              </a:rPr>
              <a:t>TEAM NAME (REGISTERED ON PORTAL)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4882896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9680E"/>
                </a:solidFill>
                <a:latin typeface="Arial"/>
              </a:rPr>
              <a:t>‹ Team name from portal 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358384"/>
            <a:ext cx="5010912" cy="12801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468112"/>
            <a:ext cx="5010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27384"/>
                </a:solidFill>
                <a:latin typeface="Arial"/>
              </a:rPr>
              <a:t>Ministry of Consumer Affairs, Food &amp; Public Distribution · Department of Consumer Affairs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731520"/>
          </a:xfrm>
        </p:spPr>
        <p:txBody>
          <a:bodyPr wrap="square" anchor="ctr"/>
          <a:lstStyle/>
          <a:p>
            <a:pPr eaLnBrk="1" hangingPunct="1" algn="ctr"/>
            <a:r>
              <a:rPr sz="3400" b="1">
                <a:solidFill>
                  <a:srgbClr val="1F497D"/>
                </a:solidFill>
                <a:latin typeface="Times New Roman"/>
              </a:rPr>
              <a:t>TULA</a:t>
            </a:r>
            <a:r>
              <a:rPr sz="3000" b="1">
                <a:solidFill>
                  <a:srgbClr val="4F81BD"/>
                </a:solidFill>
                <a:latin typeface="Nirmala UI"/>
              </a:rPr>
              <a:t>  तुला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 w="12700">
            <a:solidFill>
              <a:srgbClr val="7C9CC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0000"/>
              </a:lnSpc>
            </a:pPr>
            <a:r>
              <a:rPr sz="850" b="1">
                <a:solidFill>
                  <a:srgbClr val="1F497D"/>
                </a:solidFill>
                <a:latin typeface="Arial"/>
              </a:rPr>
              <a:t>Your
Team
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2377440" y="850392"/>
            <a:ext cx="7406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05">
                <a:solidFill>
                  <a:srgbClr val="627384"/>
                </a:solidFill>
                <a:latin typeface="Arial"/>
              </a:rPr>
              <a:t>A COMPLIANCE ENGINE FOR THE LEGAL METROLOGY (PACKAGED COMMODITIES) RULES, 2011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502920" y="1188720"/>
            <a:ext cx="1118612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1F497D"/>
                </a:solidFill>
                <a:latin typeface="Arial"/>
              </a:rPr>
              <a:t>PROPOSED SOLUTION · DETAILED EXPLANATION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502920" y="1403604"/>
            <a:ext cx="11186129" cy="16459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502920" y="1444752"/>
            <a:ext cx="1118612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32E4D"/>
                </a:solidFill>
                <a:latin typeface="Arial"/>
              </a:rPr>
              <a:t>Today </a:t>
            </a:r>
            <a:r>
              <a:rPr sz="1100" b="0" i="0">
                <a:solidFill>
                  <a:srgbClr val="627384"/>
                </a:solidFill>
                <a:latin typeface="Arial"/>
              </a:rPr>
              <a:t>an officer checks declarations, letter heights and panel area by eye and by ruler.  </a:t>
            </a:r>
            <a:r>
              <a:rPr sz="1100" b="1" i="0">
                <a:solidFill>
                  <a:srgbClr val="132E4D"/>
                </a:solidFill>
                <a:latin typeface="Arial"/>
              </a:rPr>
              <a:t>Tula </a:t>
            </a:r>
            <a:r>
              <a:rPr sz="1100" b="0" i="0">
                <a:solidFill>
                  <a:srgbClr val="1B2A39"/>
                </a:solidFill>
                <a:latin typeface="Arial"/>
              </a:rPr>
              <a:t>takes the photograph through the decision below and returns one of seven verdicts per rule — each carrying its clause, its crop and how far the evidence may be trusted.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502920" y="1883664"/>
            <a:ext cx="960120" cy="786384"/>
          </a:xfrm>
          <a:prstGeom prst="roundRect">
            <a:avLst>
              <a:gd name="adj" fmla="val 1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557784" y="1883664"/>
            <a:ext cx="85039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ONE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PHOTO</a:t>
            </a:r>
          </a:p>
          <a:p>
            <a:pPr algn="ctr">
              <a:lnSpc>
                <a:spcPct val="94000"/>
              </a:lnSpc>
              <a:spcBef>
                <a:spcPts val="300"/>
              </a:spcBef>
              <a:spcAft>
                <a:spcPts val="0"/>
              </a:spcAft>
            </a:pPr>
            <a:r>
              <a:rPr sz="700" b="0" i="0">
                <a:solidFill>
                  <a:srgbClr val="7C9CC4"/>
                </a:solidFill>
                <a:latin typeface="Arial"/>
              </a:rPr>
              <a:t>of the pack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1545336" y="1883664"/>
            <a:ext cx="1600200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7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9" name="Rectangle 15368"/>
          <p:cNvSpPr/>
          <p:nvPr/>
        </p:nvSpPr>
        <p:spPr>
          <a:xfrm>
            <a:off x="1545336" y="1883664"/>
            <a:ext cx="1600200" cy="5029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0" name="Oval 15369"/>
          <p:cNvSpPr/>
          <p:nvPr/>
        </p:nvSpPr>
        <p:spPr>
          <a:xfrm>
            <a:off x="1641348" y="2034540"/>
            <a:ext cx="173736" cy="173736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1641348" y="203454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1874519" y="2039112"/>
            <a:ext cx="11612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50">
                <a:solidFill>
                  <a:srgbClr val="1F497D"/>
                </a:solidFill>
                <a:latin typeface="Arial"/>
              </a:rPr>
              <a:t>IS THIS RULE IN FORCE?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1655064" y="2267712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7384"/>
                </a:solidFill>
                <a:latin typeface="Arial"/>
              </a:rPr>
              <a:t>commencement date and
Chapter II scope for this
package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3227832" y="1883664"/>
            <a:ext cx="1600200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7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5" name="Rectangle 15374"/>
          <p:cNvSpPr/>
          <p:nvPr/>
        </p:nvSpPr>
        <p:spPr>
          <a:xfrm>
            <a:off x="3227832" y="1883664"/>
            <a:ext cx="1600200" cy="5029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6" name="Oval 15375"/>
          <p:cNvSpPr/>
          <p:nvPr/>
        </p:nvSpPr>
        <p:spPr>
          <a:xfrm>
            <a:off x="3323844" y="2034540"/>
            <a:ext cx="173736" cy="173736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3323844" y="203454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3557015" y="2039112"/>
            <a:ext cx="11612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50">
                <a:solidFill>
                  <a:srgbClr val="1F497D"/>
                </a:solidFill>
                <a:latin typeface="Arial"/>
              </a:rPr>
              <a:t>IS THE DUTY RELIEVED?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3337560" y="2267712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7384"/>
                </a:solidFill>
                <a:latin typeface="Arial"/>
              </a:rPr>
              <a:t>Rule 3 and Rule 26 — small
packs, tobacco, institutional
or industrial purchase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4910328" y="1883664"/>
            <a:ext cx="2377440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7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1" name="Rectangle 15380"/>
          <p:cNvSpPr/>
          <p:nvPr/>
        </p:nvSpPr>
        <p:spPr>
          <a:xfrm>
            <a:off x="4910328" y="1883664"/>
            <a:ext cx="2377440" cy="5029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2" name="Oval 15381"/>
          <p:cNvSpPr/>
          <p:nvPr/>
        </p:nvSpPr>
        <p:spPr>
          <a:xfrm>
            <a:off x="5006340" y="2034540"/>
            <a:ext cx="173736" cy="173736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5006340" y="203454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5239512" y="2039112"/>
            <a:ext cx="1938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50">
                <a:solidFill>
                  <a:srgbClr val="1F497D"/>
                </a:solidFill>
                <a:latin typeface="Arial"/>
              </a:rPr>
              <a:t>EVALUATE THE ASSERTION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5020056" y="2267712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7384"/>
                </a:solidFill>
                <a:latin typeface="Arial"/>
              </a:rPr>
              <a:t>Kleene three-valued evaluation over the
trusted declarations and the measured
millimetres, guard-banded at k = 2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7370064" y="1883664"/>
            <a:ext cx="2926080" cy="786384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 w="9525">
            <a:solidFill>
              <a:srgbClr val="7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7" name="Rectangle 15386"/>
          <p:cNvSpPr/>
          <p:nvPr/>
        </p:nvSpPr>
        <p:spPr>
          <a:xfrm>
            <a:off x="7370064" y="1883664"/>
            <a:ext cx="2926080" cy="50292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8" name="Oval 15387"/>
          <p:cNvSpPr/>
          <p:nvPr/>
        </p:nvSpPr>
        <p:spPr>
          <a:xfrm>
            <a:off x="7466075" y="1979676"/>
            <a:ext cx="173736" cy="173736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7466075" y="1979676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7699248" y="1984248"/>
            <a:ext cx="2487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50">
                <a:solidFill>
                  <a:srgbClr val="1F497D"/>
                </a:solidFill>
                <a:latin typeface="Arial"/>
              </a:rPr>
              <a:t>THREE INDEPENDENT GATES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7498080" y="2194560"/>
            <a:ext cx="6583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132E4D"/>
                </a:solidFill>
                <a:latin typeface="Arial"/>
              </a:rPr>
              <a:t>COVERAGE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8174736" y="2194560"/>
            <a:ext cx="19933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27384"/>
                </a:solidFill>
                <a:latin typeface="Arial"/>
              </a:rPr>
              <a:t>may we say a declaration is absent?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7498080" y="2345436"/>
            <a:ext cx="6583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132E4D"/>
                </a:solidFill>
                <a:latin typeface="Arial"/>
              </a:rPr>
              <a:t>TIER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8174736" y="2345436"/>
            <a:ext cx="19933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27384"/>
                </a:solidFill>
                <a:latin typeface="Arial"/>
              </a:rPr>
              <a:t>how well do we know the millimetre?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7498080" y="2496312"/>
            <a:ext cx="65836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132E4D"/>
                </a:solidFill>
                <a:latin typeface="Arial"/>
              </a:rPr>
              <a:t>LANE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8174736" y="2496312"/>
            <a:ext cx="19933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27384"/>
                </a:solidFill>
                <a:latin typeface="Arial"/>
              </a:rPr>
              <a:t>may this evidence convict at all?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10378440" y="1883664"/>
            <a:ext cx="1298448" cy="786384"/>
          </a:xfrm>
          <a:prstGeom prst="roundRect">
            <a:avLst>
              <a:gd name="adj" fmla="val 10000"/>
            </a:avLst>
          </a:prstGeom>
          <a:solidFill>
            <a:srgbClr val="A33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8" name="TextBox 15397"/>
          <p:cNvSpPr txBox="1"/>
          <p:nvPr/>
        </p:nvSpPr>
        <p:spPr>
          <a:xfrm>
            <a:off x="10433304" y="1883664"/>
            <a:ext cx="118871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VIOLATION</a:t>
            </a:r>
          </a:p>
          <a:p>
            <a:pPr algn="ctr">
              <a:lnSpc>
                <a:spcPct val="98000"/>
              </a:lnSpc>
              <a:spcBef>
                <a:spcPts val="300"/>
              </a:spcBef>
              <a:spcAft>
                <a:spcPts val="0"/>
              </a:spcAft>
            </a:pPr>
            <a:r>
              <a:rPr sz="700" b="0" i="0">
                <a:solidFill>
                  <a:srgbClr val="F0D6D2"/>
                </a:solidFill>
                <a:latin typeface="Arial"/>
              </a:rPr>
              <a:t>clause, crop and
uncertainty attached</a:t>
            </a:r>
          </a:p>
        </p:txBody>
      </p:sp>
      <p:sp>
        <p:nvSpPr>
          <p:cNvPr id="15399" name="Isosceles Triangle 15398"/>
          <p:cNvSpPr/>
          <p:nvPr/>
        </p:nvSpPr>
        <p:spPr>
          <a:xfrm rot="5400000">
            <a:off x="1440180" y="2212848"/>
            <a:ext cx="128016" cy="128016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0" name="Isosceles Triangle 15399"/>
          <p:cNvSpPr/>
          <p:nvPr/>
        </p:nvSpPr>
        <p:spPr>
          <a:xfrm rot="5400000">
            <a:off x="3122676" y="2212848"/>
            <a:ext cx="128016" cy="128016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Isosceles Triangle 15400"/>
          <p:cNvSpPr/>
          <p:nvPr/>
        </p:nvSpPr>
        <p:spPr>
          <a:xfrm rot="5400000">
            <a:off x="4805171" y="2212848"/>
            <a:ext cx="128016" cy="128016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Isosceles Triangle 15401"/>
          <p:cNvSpPr/>
          <p:nvPr/>
        </p:nvSpPr>
        <p:spPr>
          <a:xfrm rot="5400000">
            <a:off x="7264908" y="2212848"/>
            <a:ext cx="128016" cy="128016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Isosceles Triangle 15402"/>
          <p:cNvSpPr/>
          <p:nvPr/>
        </p:nvSpPr>
        <p:spPr>
          <a:xfrm rot="5400000">
            <a:off x="10273284" y="2212848"/>
            <a:ext cx="128016" cy="128016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4" name="Rectangle 15403"/>
          <p:cNvSpPr/>
          <p:nvPr/>
        </p:nvSpPr>
        <p:spPr>
          <a:xfrm>
            <a:off x="2335377" y="2688336"/>
            <a:ext cx="20116" cy="86868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5" name="Isosceles Triangle 15404"/>
          <p:cNvSpPr/>
          <p:nvPr/>
        </p:nvSpPr>
        <p:spPr>
          <a:xfrm rot="10800000">
            <a:off x="2297429" y="2775204"/>
            <a:ext cx="96012" cy="96012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6" name="Rounded Rectangle 15405"/>
          <p:cNvSpPr/>
          <p:nvPr/>
        </p:nvSpPr>
        <p:spPr>
          <a:xfrm>
            <a:off x="1545336" y="28895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7E8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7" name="TextBox 15406"/>
          <p:cNvSpPr txBox="1"/>
          <p:nvPr/>
        </p:nvSpPr>
        <p:spPr>
          <a:xfrm>
            <a:off x="1545336" y="2889504"/>
            <a:ext cx="1600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E8C9A"/>
                </a:solidFill>
                <a:latin typeface="Arial"/>
              </a:rPr>
              <a:t>NOT APPLICABLE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1545336" y="3182112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not in force</a:t>
            </a:r>
          </a:p>
        </p:txBody>
      </p:sp>
      <p:sp>
        <p:nvSpPr>
          <p:cNvPr id="15409" name="Rectangle 15408"/>
          <p:cNvSpPr/>
          <p:nvPr/>
        </p:nvSpPr>
        <p:spPr>
          <a:xfrm>
            <a:off x="4017873" y="2688336"/>
            <a:ext cx="20116" cy="86868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0" name="Isosceles Triangle 15409"/>
          <p:cNvSpPr/>
          <p:nvPr/>
        </p:nvSpPr>
        <p:spPr>
          <a:xfrm rot="10800000">
            <a:off x="3979925" y="2775204"/>
            <a:ext cx="96012" cy="96012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1" name="Rounded Rectangle 15410"/>
          <p:cNvSpPr/>
          <p:nvPr/>
        </p:nvSpPr>
        <p:spPr>
          <a:xfrm>
            <a:off x="3227832" y="2889504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7E8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12" name="TextBox 15411"/>
          <p:cNvSpPr txBox="1"/>
          <p:nvPr/>
        </p:nvSpPr>
        <p:spPr>
          <a:xfrm>
            <a:off x="3227832" y="2889504"/>
            <a:ext cx="1600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E8C9A"/>
                </a:solidFill>
                <a:latin typeface="Arial"/>
              </a:rPr>
              <a:t>EXEMPT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3227832" y="3182112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relieved</a:t>
            </a:r>
          </a:p>
        </p:txBody>
      </p:sp>
      <p:sp>
        <p:nvSpPr>
          <p:cNvPr id="15414" name="Rectangle 15413"/>
          <p:cNvSpPr/>
          <p:nvPr/>
        </p:nvSpPr>
        <p:spPr>
          <a:xfrm>
            <a:off x="5272125" y="2688336"/>
            <a:ext cx="20116" cy="86868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5" name="Isosceles Triangle 15414"/>
          <p:cNvSpPr/>
          <p:nvPr/>
        </p:nvSpPr>
        <p:spPr>
          <a:xfrm rot="10800000">
            <a:off x="5234178" y="2775204"/>
            <a:ext cx="96012" cy="96012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6" name="Rounded Rectangle 15415"/>
          <p:cNvSpPr/>
          <p:nvPr/>
        </p:nvSpPr>
        <p:spPr>
          <a:xfrm>
            <a:off x="4910328" y="2889504"/>
            <a:ext cx="7437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170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17" name="TextBox 15416"/>
          <p:cNvSpPr txBox="1"/>
          <p:nvPr/>
        </p:nvSpPr>
        <p:spPr>
          <a:xfrm>
            <a:off x="4910328" y="2889504"/>
            <a:ext cx="74371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17026"/>
                </a:solidFill>
                <a:latin typeface="Arial"/>
              </a:rPr>
              <a:t>PASS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4910328" y="3182112"/>
            <a:ext cx="7437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holds</a:t>
            </a:r>
          </a:p>
        </p:txBody>
      </p:sp>
      <p:sp>
        <p:nvSpPr>
          <p:cNvPr id="15419" name="Rectangle 15418"/>
          <p:cNvSpPr/>
          <p:nvPr/>
        </p:nvSpPr>
        <p:spPr>
          <a:xfrm>
            <a:off x="6088989" y="2688336"/>
            <a:ext cx="20116" cy="86868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0" name="Isosceles Triangle 15419"/>
          <p:cNvSpPr/>
          <p:nvPr/>
        </p:nvSpPr>
        <p:spPr>
          <a:xfrm rot="10800000">
            <a:off x="6051042" y="2775204"/>
            <a:ext cx="96012" cy="96012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1" name="Rounded Rectangle 15420"/>
          <p:cNvSpPr/>
          <p:nvPr/>
        </p:nvSpPr>
        <p:spPr>
          <a:xfrm>
            <a:off x="5727192" y="2889504"/>
            <a:ext cx="7437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22" name="TextBox 15421"/>
          <p:cNvSpPr txBox="1"/>
          <p:nvPr/>
        </p:nvSpPr>
        <p:spPr>
          <a:xfrm>
            <a:off x="5727192" y="2889504"/>
            <a:ext cx="74371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4F81BD"/>
                </a:solidFill>
                <a:latin typeface="Arial"/>
              </a:rPr>
              <a:t>INCONCLUSIVE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5727192" y="3182112"/>
            <a:ext cx="7437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straddles the limit</a:t>
            </a:r>
          </a:p>
        </p:txBody>
      </p:sp>
      <p:sp>
        <p:nvSpPr>
          <p:cNvPr id="15424" name="Rectangle 15423"/>
          <p:cNvSpPr/>
          <p:nvPr/>
        </p:nvSpPr>
        <p:spPr>
          <a:xfrm>
            <a:off x="6905853" y="2688336"/>
            <a:ext cx="20116" cy="86868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5" name="Isosceles Triangle 15424"/>
          <p:cNvSpPr/>
          <p:nvPr/>
        </p:nvSpPr>
        <p:spPr>
          <a:xfrm rot="10800000">
            <a:off x="6867905" y="2775204"/>
            <a:ext cx="96012" cy="96012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6" name="Rounded Rectangle 15425"/>
          <p:cNvSpPr/>
          <p:nvPr/>
        </p:nvSpPr>
        <p:spPr>
          <a:xfrm>
            <a:off x="6544056" y="2889504"/>
            <a:ext cx="7437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7E8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27" name="TextBox 15426"/>
          <p:cNvSpPr txBox="1"/>
          <p:nvPr/>
        </p:nvSpPr>
        <p:spPr>
          <a:xfrm>
            <a:off x="6544056" y="2889504"/>
            <a:ext cx="74371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E8C9A"/>
                </a:solidFill>
                <a:latin typeface="Arial"/>
              </a:rPr>
              <a:t>UNVERIFIED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6544056" y="3182112"/>
            <a:ext cx="7437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input missing</a:t>
            </a:r>
          </a:p>
        </p:txBody>
      </p:sp>
      <p:sp>
        <p:nvSpPr>
          <p:cNvPr id="15429" name="Rectangle 15428"/>
          <p:cNvSpPr/>
          <p:nvPr/>
        </p:nvSpPr>
        <p:spPr>
          <a:xfrm>
            <a:off x="8823045" y="2688336"/>
            <a:ext cx="20116" cy="86868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0" name="Isosceles Triangle 15429"/>
          <p:cNvSpPr/>
          <p:nvPr/>
        </p:nvSpPr>
        <p:spPr>
          <a:xfrm rot="10800000">
            <a:off x="8785098" y="2775204"/>
            <a:ext cx="96012" cy="96012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1" name="Rounded Rectangle 15430"/>
          <p:cNvSpPr/>
          <p:nvPr/>
        </p:nvSpPr>
        <p:spPr>
          <a:xfrm>
            <a:off x="7370064" y="2889504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A968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32" name="TextBox 15431"/>
          <p:cNvSpPr txBox="1"/>
          <p:nvPr/>
        </p:nvSpPr>
        <p:spPr>
          <a:xfrm>
            <a:off x="7370064" y="2889504"/>
            <a:ext cx="2926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9680E"/>
                </a:solidFill>
                <a:latin typeface="Arial"/>
              </a:rPr>
              <a:t>ADVISORY</a:t>
            </a:r>
          </a:p>
        </p:txBody>
      </p:sp>
      <p:sp>
        <p:nvSpPr>
          <p:cNvPr id="15433" name="TextBox 15432"/>
          <p:cNvSpPr txBox="1"/>
          <p:nvPr/>
        </p:nvSpPr>
        <p:spPr>
          <a:xfrm>
            <a:off x="7370064" y="3182112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any one gate demotes the outcome</a:t>
            </a:r>
          </a:p>
        </p:txBody>
      </p:sp>
      <p:sp>
        <p:nvSpPr>
          <p:cNvPr id="15434" name="TextBox 15433"/>
          <p:cNvSpPr txBox="1"/>
          <p:nvPr/>
        </p:nvSpPr>
        <p:spPr>
          <a:xfrm>
            <a:off x="502920" y="3438144"/>
            <a:ext cx="111861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2E4D"/>
                </a:solidFill>
                <a:latin typeface="Arial"/>
              </a:rPr>
              <a:t>A gate can only demote an outcome, never promote it.</a:t>
            </a:r>
            <a:r>
              <a:rPr sz="950" b="0" i="0">
                <a:solidFill>
                  <a:srgbClr val="627384"/>
                </a:solidFill>
                <a:latin typeface="Arial"/>
              </a:rPr>
              <a:t>  A rule can fail on the label and still, correctly, not become a violation — because a system that can only say PASS or VIOLATION is forced to guess, and a wrong accusation costs far more than a deferred one.</a:t>
            </a:r>
          </a:p>
        </p:txBody>
      </p:sp>
      <p:sp>
        <p:nvSpPr>
          <p:cNvPr id="15435" name="TextBox 15434"/>
          <p:cNvSpPr txBox="1"/>
          <p:nvPr/>
        </p:nvSpPr>
        <p:spPr>
          <a:xfrm>
            <a:off x="502920" y="3822191"/>
            <a:ext cx="5440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1F497D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436" name="Rectangle 15435"/>
          <p:cNvSpPr/>
          <p:nvPr/>
        </p:nvSpPr>
        <p:spPr>
          <a:xfrm>
            <a:off x="502920" y="4037076"/>
            <a:ext cx="5440680" cy="16459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7" name="TextBox 15436"/>
          <p:cNvSpPr txBox="1"/>
          <p:nvPr/>
        </p:nvSpPr>
        <p:spPr>
          <a:xfrm>
            <a:off x="6245352" y="3822191"/>
            <a:ext cx="5440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1F497D"/>
                </a:solidFill>
                <a:latin typeface="Arial"/>
              </a:rPr>
              <a:t>INNOVATION AND UNIQUENESS</a:t>
            </a:r>
          </a:p>
        </p:txBody>
      </p:sp>
      <p:sp>
        <p:nvSpPr>
          <p:cNvPr id="15438" name="Rectangle 15437"/>
          <p:cNvSpPr/>
          <p:nvPr/>
        </p:nvSpPr>
        <p:spPr>
          <a:xfrm>
            <a:off x="6245352" y="4037076"/>
            <a:ext cx="5440680" cy="16459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9" name="Rectangle 15438"/>
          <p:cNvSpPr/>
          <p:nvPr/>
        </p:nvSpPr>
        <p:spPr>
          <a:xfrm>
            <a:off x="502920" y="4155948"/>
            <a:ext cx="68580" cy="685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40" name="TextBox 15439"/>
          <p:cNvSpPr txBox="1"/>
          <p:nvPr/>
        </p:nvSpPr>
        <p:spPr>
          <a:xfrm>
            <a:off x="704088" y="4114800"/>
            <a:ext cx="5239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2E4D"/>
                </a:solidFill>
                <a:latin typeface="Arial"/>
              </a:rPr>
              <a:t>All 18 rules, not a checklist.</a:t>
            </a:r>
            <a:r>
              <a:rPr sz="950" b="0" i="0">
                <a:solidFill>
                  <a:srgbClr val="1B2A39"/>
                </a:solidFill>
                <a:latin typeface="Arial"/>
              </a:rPr>
              <a:t> Manufacturer, generic name, net quantity, date, MRP, consumer care, unit sale price, country of origin, letter height and panel grouping.</a:t>
            </a:r>
          </a:p>
        </p:txBody>
      </p:sp>
      <p:sp>
        <p:nvSpPr>
          <p:cNvPr id="15441" name="Rectangle 15440"/>
          <p:cNvSpPr/>
          <p:nvPr/>
        </p:nvSpPr>
        <p:spPr>
          <a:xfrm>
            <a:off x="502920" y="4869180"/>
            <a:ext cx="68580" cy="685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42" name="TextBox 15441"/>
          <p:cNvSpPr txBox="1"/>
          <p:nvPr/>
        </p:nvSpPr>
        <p:spPr>
          <a:xfrm>
            <a:off x="704088" y="4828032"/>
            <a:ext cx="5239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2E4D"/>
                </a:solidFill>
                <a:latin typeface="Arial"/>
              </a:rPr>
              <a:t>Products, images and labels — each on its own footing.</a:t>
            </a:r>
            <a:r>
              <a:rPr sz="950" b="0" i="0">
                <a:solidFill>
                  <a:srgbClr val="1B2A39"/>
                </a:solidFill>
                <a:latin typeface="Arial"/>
              </a:rPr>
              <a:t> A field capture, a marketplace listing, a citizen's snap and the packer's own artwork enter by different lanes and carry different weight.</a:t>
            </a:r>
          </a:p>
        </p:txBody>
      </p:sp>
      <p:sp>
        <p:nvSpPr>
          <p:cNvPr id="15443" name="Rectangle 15442"/>
          <p:cNvSpPr/>
          <p:nvPr/>
        </p:nvSpPr>
        <p:spPr>
          <a:xfrm>
            <a:off x="502920" y="5582412"/>
            <a:ext cx="68580" cy="685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44" name="TextBox 15443"/>
          <p:cNvSpPr txBox="1"/>
          <p:nvPr/>
        </p:nvSpPr>
        <p:spPr>
          <a:xfrm>
            <a:off x="704088" y="5541264"/>
            <a:ext cx="5239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2E4D"/>
                </a:solidFill>
                <a:latin typeface="Arial"/>
              </a:rPr>
              <a:t>Ends in an actionable record, not a score.</a:t>
            </a:r>
            <a:r>
              <a:rPr sz="950" b="0" i="0">
                <a:solidFill>
                  <a:srgbClr val="1B2A39"/>
                </a:solidFill>
                <a:latin typeface="Arial"/>
              </a:rPr>
              <a:t> Clause-cited PDF, editable DOCX and JSON with the crops; the inspector drafts and an independent supervisor approves.</a:t>
            </a:r>
          </a:p>
        </p:txBody>
      </p:sp>
      <p:sp>
        <p:nvSpPr>
          <p:cNvPr id="15445" name="Rectangle 15444"/>
          <p:cNvSpPr/>
          <p:nvPr/>
        </p:nvSpPr>
        <p:spPr>
          <a:xfrm>
            <a:off x="6245352" y="4155948"/>
            <a:ext cx="68580" cy="685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46" name="TextBox 15445"/>
          <p:cNvSpPr txBox="1"/>
          <p:nvPr/>
        </p:nvSpPr>
        <p:spPr>
          <a:xfrm>
            <a:off x="6446520" y="4114800"/>
            <a:ext cx="5239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2E4D"/>
                </a:solidFill>
                <a:latin typeface="Arial"/>
              </a:rPr>
              <a:t>Seven verdicts, not two.</a:t>
            </a:r>
            <a:r>
              <a:rPr sz="950" b="0" i="0">
                <a:solidFill>
                  <a:srgbClr val="1B2A39"/>
                </a:solidFill>
                <a:latin typeface="Arial"/>
              </a:rPr>
              <a:t> “I cannot tell from this photograph” becomes a first-class, actionable answer instead of a guess in either direction.</a:t>
            </a:r>
          </a:p>
        </p:txBody>
      </p:sp>
      <p:sp>
        <p:nvSpPr>
          <p:cNvPr id="15447" name="Rectangle 15446"/>
          <p:cNvSpPr/>
          <p:nvPr/>
        </p:nvSpPr>
        <p:spPr>
          <a:xfrm>
            <a:off x="6245352" y="4869180"/>
            <a:ext cx="68580" cy="685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48" name="TextBox 15447"/>
          <p:cNvSpPr txBox="1"/>
          <p:nvPr/>
        </p:nvSpPr>
        <p:spPr>
          <a:xfrm>
            <a:off x="6446520" y="4828032"/>
            <a:ext cx="5239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2E4D"/>
                </a:solidFill>
                <a:latin typeface="Arial"/>
              </a:rPr>
              <a:t>No ruler, and no scale needed in order to abstain.</a:t>
            </a:r>
            <a:r>
              <a:rPr sz="950" b="0" i="0">
                <a:solidFill>
                  <a:srgbClr val="1B2A39"/>
                </a:solidFill>
                <a:latin typeface="Arial"/>
              </a:rPr>
              <a:t> Panel area is bracketed from the photograph itself — the interval held the truth 8 times in 8 — and a size sweep settles the rules whose outcome cannot depend on scale.</a:t>
            </a:r>
          </a:p>
        </p:txBody>
      </p:sp>
      <p:sp>
        <p:nvSpPr>
          <p:cNvPr id="15449" name="Rectangle 15448"/>
          <p:cNvSpPr/>
          <p:nvPr/>
        </p:nvSpPr>
        <p:spPr>
          <a:xfrm>
            <a:off x="6245352" y="5582412"/>
            <a:ext cx="68580" cy="6858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50" name="TextBox 15449"/>
          <p:cNvSpPr txBox="1"/>
          <p:nvPr/>
        </p:nvSpPr>
        <p:spPr>
          <a:xfrm>
            <a:off x="6446520" y="5541264"/>
            <a:ext cx="5239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2E4D"/>
                </a:solidFill>
                <a:latin typeface="Arial"/>
              </a:rPr>
              <a:t>Rules are dated data, not code.</a:t>
            </a:r>
            <a:r>
              <a:rPr sz="950" b="0" i="0">
                <a:solidFill>
                  <a:srgbClr val="1B2A39"/>
                </a:solidFill>
                <a:latin typeface="Arial"/>
              </a:rPr>
              <a:t> Reading the Gazette ourselves withdrew a bilingual rule the brief had asked for and corrected a letter height from 1.5 mm to 2.0 mm.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868680"/>
          </a:xfrm>
        </p:spPr>
        <p:txBody>
          <a:bodyPr wrap="square" anchor="ctr"/>
          <a:lstStyle/>
          <a:p>
            <a:pPr eaLnBrk="1" hangingPunct="1" algn="ctr"/>
            <a:r>
              <a:rPr sz="3000" b="1">
                <a:solidFill>
                  <a:srgbClr val="1F497D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 w="12700">
            <a:solidFill>
              <a:srgbClr val="7C9CC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0000"/>
              </a:lnSpc>
            </a:pPr>
            <a:r>
              <a:rPr sz="850" b="1">
                <a:solidFill>
                  <a:srgbClr val="1F497D"/>
                </a:solidFill>
                <a:latin typeface="Arial"/>
              </a:rPr>
              <a:t>Your
Team
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170432"/>
            <a:ext cx="1118612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1F497D"/>
                </a:solidFill>
                <a:latin typeface="Arial"/>
              </a:rPr>
              <a:t>TECHNOLOGIES TO BE USED · METHODOLOGY AND PROCESS FOR IMPLEMENTATION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385316"/>
            <a:ext cx="11186129" cy="16459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63040"/>
            <a:ext cx="85039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02920" y="1463040"/>
            <a:ext cx="68580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85800" y="1463040"/>
            <a:ext cx="14813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50">
                <a:solidFill>
                  <a:srgbClr val="1F497D"/>
                </a:solidFill>
                <a:latin typeface="Arial"/>
              </a:rPr>
              <a:t>USERS AND LANES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258568" y="1563624"/>
            <a:ext cx="10972" cy="365760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2386584" y="1604772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2432304" y="1604772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Inspector · field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018788" y="1604772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064508" y="1604772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Supervisor · approval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650992" y="1604772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696712" y="1604772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Packer · pre-market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7283196" y="1604772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328916" y="1604772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Citizen · advisory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1407261" y="2029968"/>
            <a:ext cx="20116" cy="54863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Isosceles Triangle 17424"/>
          <p:cNvSpPr/>
          <p:nvPr/>
        </p:nvSpPr>
        <p:spPr>
          <a:xfrm rot="10800000">
            <a:off x="1378458" y="2084832"/>
            <a:ext cx="77724" cy="77724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1563624" y="2034540"/>
            <a:ext cx="5120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photograph + the lane it was taken in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02920" y="2162556"/>
            <a:ext cx="85039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502920" y="2162556"/>
            <a:ext cx="68580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85800" y="2162556"/>
            <a:ext cx="14813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50">
                <a:solidFill>
                  <a:srgbClr val="1F497D"/>
                </a:solidFill>
                <a:latin typeface="Arial"/>
              </a:rPr>
              <a:t>APPLICATION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2258568" y="2263140"/>
            <a:ext cx="10972" cy="365760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2386584" y="2304288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2432304" y="2304288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FastAPI · Uvicorn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018788" y="2304288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4064508" y="2304288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Jinja2 + HTMX 1.9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5650992" y="2304288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5696712" y="2304288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scrypt auth · 3 roles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283196" y="2304288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328916" y="2304288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Durable job queue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1407261" y="2729484"/>
            <a:ext cx="20116" cy="54863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Isosceles Triangle 17439"/>
          <p:cNvSpPr/>
          <p:nvPr/>
        </p:nvSpPr>
        <p:spPr>
          <a:xfrm rot="10800000">
            <a:off x="1378458" y="2784348"/>
            <a:ext cx="77724" cy="77724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1563624" y="2734056"/>
            <a:ext cx="5120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image bytes, queued with an owned lease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502920" y="2862072"/>
            <a:ext cx="85039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3" name="Rectangle 17442"/>
          <p:cNvSpPr/>
          <p:nvPr/>
        </p:nvSpPr>
        <p:spPr>
          <a:xfrm>
            <a:off x="502920" y="2862072"/>
            <a:ext cx="68580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685800" y="2862072"/>
            <a:ext cx="14813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50">
                <a:solidFill>
                  <a:srgbClr val="1F497D"/>
                </a:solidFill>
                <a:latin typeface="Arial"/>
              </a:rPr>
              <a:t>VISION — CPU ONLY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2258568" y="2962656"/>
            <a:ext cx="10972" cy="365760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ounded Rectangle 17445"/>
          <p:cNvSpPr/>
          <p:nvPr/>
        </p:nvSpPr>
        <p:spPr>
          <a:xfrm>
            <a:off x="2386584" y="3003803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2432304" y="3003803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RapidOCR PP-OCRv4 ONNX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018788" y="3003803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4064508" y="3003803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Tesseract 5 · eng+hin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5650992" y="3003803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5696712" y="3003803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zxing-cpp · GTIN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7283196" y="3003803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7328916" y="3003803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OpenCV-contrib ArUco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1407261" y="3429000"/>
            <a:ext cx="20116" cy="54863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Isosceles Triangle 17454"/>
          <p:cNvSpPr/>
          <p:nvPr/>
        </p:nvSpPr>
        <p:spPr>
          <a:xfrm rot="10800000">
            <a:off x="1378458" y="3483864"/>
            <a:ext cx="77724" cy="77724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1563624" y="3433572"/>
            <a:ext cx="5120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recognised text, boxes and confidences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502920" y="3561588"/>
            <a:ext cx="85039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8" name="Rectangle 17457"/>
          <p:cNvSpPr/>
          <p:nvPr/>
        </p:nvSpPr>
        <p:spPr>
          <a:xfrm>
            <a:off x="502920" y="3561588"/>
            <a:ext cx="68580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685800" y="3561588"/>
            <a:ext cx="14813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50">
                <a:solidFill>
                  <a:srgbClr val="1F497D"/>
                </a:solidFill>
                <a:latin typeface="Arial"/>
              </a:rPr>
              <a:t>EXTRACT AND MEASURE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2258568" y="3662172"/>
            <a:ext cx="10972" cy="365760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Rounded Rectangle 17460"/>
          <p:cNvSpPr/>
          <p:nvPr/>
        </p:nvSpPr>
        <p:spPr>
          <a:xfrm>
            <a:off x="2386584" y="3703320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2432304" y="3703320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9 declaration parsers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4018788" y="3703320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4064508" y="3703320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found vs trusted filter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5650992" y="3703320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5696712" y="3703320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glyph cap-height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7283196" y="3703320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7328916" y="3703320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panel area bracket</a:t>
            </a:r>
          </a:p>
        </p:txBody>
      </p:sp>
      <p:sp>
        <p:nvSpPr>
          <p:cNvPr id="17469" name="Rectangle 17468"/>
          <p:cNvSpPr/>
          <p:nvPr/>
        </p:nvSpPr>
        <p:spPr>
          <a:xfrm>
            <a:off x="1407261" y="4128515"/>
            <a:ext cx="20116" cy="54863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Isosceles Triangle 17469"/>
          <p:cNvSpPr/>
          <p:nvPr/>
        </p:nvSpPr>
        <p:spPr>
          <a:xfrm rot="10800000">
            <a:off x="1378458" y="4183379"/>
            <a:ext cx="77724" cy="77724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1563624" y="4133087"/>
            <a:ext cx="5120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located declarations and millimetres ± u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502920" y="4261104"/>
            <a:ext cx="85039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3" name="Rectangle 17472"/>
          <p:cNvSpPr/>
          <p:nvPr/>
        </p:nvSpPr>
        <p:spPr>
          <a:xfrm>
            <a:off x="502920" y="4261104"/>
            <a:ext cx="68580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685800" y="4261104"/>
            <a:ext cx="14813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50">
                <a:solidFill>
                  <a:srgbClr val="1F497D"/>
                </a:solidFill>
                <a:latin typeface="Arial"/>
              </a:rPr>
              <a:t>DECIDE</a:t>
            </a:r>
          </a:p>
        </p:txBody>
      </p:sp>
      <p:sp>
        <p:nvSpPr>
          <p:cNvPr id="17475" name="Rectangle 17474"/>
          <p:cNvSpPr/>
          <p:nvPr/>
        </p:nvSpPr>
        <p:spPr>
          <a:xfrm>
            <a:off x="2258568" y="4361688"/>
            <a:ext cx="10972" cy="365760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Rounded Rectangle 17475"/>
          <p:cNvSpPr/>
          <p:nvPr/>
        </p:nvSpPr>
        <p:spPr>
          <a:xfrm>
            <a:off x="2386584" y="4402836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7" name="TextBox 17476"/>
          <p:cNvSpPr txBox="1"/>
          <p:nvPr/>
        </p:nvSpPr>
        <p:spPr>
          <a:xfrm>
            <a:off x="2432304" y="4402836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18 versioned JSON rules</a:t>
            </a:r>
          </a:p>
        </p:txBody>
      </p:sp>
      <p:sp>
        <p:nvSpPr>
          <p:cNvPr id="17478" name="Rounded Rectangle 17477"/>
          <p:cNvSpPr/>
          <p:nvPr/>
        </p:nvSpPr>
        <p:spPr>
          <a:xfrm>
            <a:off x="4018788" y="4402836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4064508" y="4402836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Kleene 3-valued engine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5650992" y="4402836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1" name="TextBox 17480"/>
          <p:cNvSpPr txBox="1"/>
          <p:nvPr/>
        </p:nvSpPr>
        <p:spPr>
          <a:xfrm>
            <a:off x="5696712" y="4402836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guard band at k = 2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7283196" y="4402836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7328916" y="4402836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tier · coverage · lane</a:t>
            </a:r>
          </a:p>
        </p:txBody>
      </p:sp>
      <p:sp>
        <p:nvSpPr>
          <p:cNvPr id="17484" name="Rectangle 17483"/>
          <p:cNvSpPr/>
          <p:nvPr/>
        </p:nvSpPr>
        <p:spPr>
          <a:xfrm>
            <a:off x="1407261" y="4828032"/>
            <a:ext cx="20116" cy="54863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5" name="Isosceles Triangle 17484"/>
          <p:cNvSpPr/>
          <p:nvPr/>
        </p:nvSpPr>
        <p:spPr>
          <a:xfrm rot="10800000">
            <a:off x="1378458" y="4882896"/>
            <a:ext cx="77724" cy="77724"/>
          </a:xfrm>
          <a:prstGeom prst="triangle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6" name="TextBox 17485"/>
          <p:cNvSpPr txBox="1"/>
          <p:nvPr/>
        </p:nvSpPr>
        <p:spPr>
          <a:xfrm>
            <a:off x="1563624" y="4832604"/>
            <a:ext cx="51206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627384"/>
                </a:solidFill>
                <a:latin typeface="Arial"/>
              </a:rPr>
              <a:t>one graded finding per rule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502920" y="4960620"/>
            <a:ext cx="85039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8" name="Rectangle 17487"/>
          <p:cNvSpPr/>
          <p:nvPr/>
        </p:nvSpPr>
        <p:spPr>
          <a:xfrm>
            <a:off x="502920" y="4960620"/>
            <a:ext cx="68580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9" name="TextBox 17488"/>
          <p:cNvSpPr txBox="1"/>
          <p:nvPr/>
        </p:nvSpPr>
        <p:spPr>
          <a:xfrm>
            <a:off x="685800" y="4960620"/>
            <a:ext cx="14813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50">
                <a:solidFill>
                  <a:srgbClr val="1F497D"/>
                </a:solidFill>
                <a:latin typeface="Arial"/>
              </a:rPr>
              <a:t>OUTPUT AND APPROVAL</a:t>
            </a:r>
          </a:p>
        </p:txBody>
      </p:sp>
      <p:sp>
        <p:nvSpPr>
          <p:cNvPr id="17490" name="Rectangle 17489"/>
          <p:cNvSpPr/>
          <p:nvPr/>
        </p:nvSpPr>
        <p:spPr>
          <a:xfrm>
            <a:off x="2258568" y="5061204"/>
            <a:ext cx="10972" cy="365760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1" name="Rounded Rectangle 17490"/>
          <p:cNvSpPr/>
          <p:nvPr/>
        </p:nvSpPr>
        <p:spPr>
          <a:xfrm>
            <a:off x="2386584" y="5102352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2" name="TextBox 17491"/>
          <p:cNvSpPr txBox="1"/>
          <p:nvPr/>
        </p:nvSpPr>
        <p:spPr>
          <a:xfrm>
            <a:off x="2432304" y="5102352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ReportLab PDF + crops</a:t>
            </a:r>
          </a:p>
        </p:txBody>
      </p:sp>
      <p:sp>
        <p:nvSpPr>
          <p:cNvPr id="17493" name="Rounded Rectangle 17492"/>
          <p:cNvSpPr/>
          <p:nvPr/>
        </p:nvSpPr>
        <p:spPr>
          <a:xfrm>
            <a:off x="4018788" y="5102352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4" name="TextBox 17493"/>
          <p:cNvSpPr txBox="1"/>
          <p:nvPr/>
        </p:nvSpPr>
        <p:spPr>
          <a:xfrm>
            <a:off x="4064508" y="5102352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python-docx · editable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5650992" y="5102352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6" name="TextBox 17495"/>
          <p:cNvSpPr txBox="1"/>
          <p:nvPr/>
        </p:nvSpPr>
        <p:spPr>
          <a:xfrm>
            <a:off x="5696712" y="5102352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JSON analysis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7283196" y="5102352"/>
            <a:ext cx="1540764" cy="283464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8" name="TextBox 17497"/>
          <p:cNvSpPr txBox="1"/>
          <p:nvPr/>
        </p:nvSpPr>
        <p:spPr>
          <a:xfrm>
            <a:off x="7328916" y="5102352"/>
            <a:ext cx="144932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32E4D"/>
                </a:solidFill>
                <a:latin typeface="Arial"/>
              </a:rPr>
              <a:t>second-officer approval</a:t>
            </a:r>
          </a:p>
        </p:txBody>
      </p:sp>
      <p:sp>
        <p:nvSpPr>
          <p:cNvPr id="17499" name="Rounded Rectangle 17498"/>
          <p:cNvSpPr/>
          <p:nvPr/>
        </p:nvSpPr>
        <p:spPr>
          <a:xfrm>
            <a:off x="9189720" y="1463040"/>
            <a:ext cx="2496312" cy="2103120"/>
          </a:xfrm>
          <a:prstGeom prst="roundRect">
            <a:avLst>
              <a:gd name="adj" fmla="val 5500"/>
            </a:avLst>
          </a:prstGeom>
          <a:solidFill>
            <a:srgbClr val="DDE7F3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0" name="Rectangle 17499"/>
          <p:cNvSpPr/>
          <p:nvPr/>
        </p:nvSpPr>
        <p:spPr>
          <a:xfrm>
            <a:off x="9189720" y="1463040"/>
            <a:ext cx="2496312" cy="50292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1" name="TextBox 17500"/>
          <p:cNvSpPr txBox="1"/>
          <p:nvPr/>
        </p:nvSpPr>
        <p:spPr>
          <a:xfrm>
            <a:off x="9326880" y="1609344"/>
            <a:ext cx="2221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1F497D"/>
                </a:solidFill>
                <a:latin typeface="Arial"/>
              </a:rPr>
              <a:t>EVIDENCE STORE</a:t>
            </a:r>
          </a:p>
        </p:txBody>
      </p:sp>
      <p:sp>
        <p:nvSpPr>
          <p:cNvPr id="17502" name="TextBox 17501"/>
          <p:cNvSpPr txBox="1"/>
          <p:nvPr/>
        </p:nvSpPr>
        <p:spPr>
          <a:xfrm>
            <a:off x="9326880" y="1810512"/>
            <a:ext cx="222199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4F81BD"/>
                </a:solidFill>
                <a:latin typeface="Arial"/>
              </a:rPr>
              <a:t>written by every layer above</a:t>
            </a:r>
          </a:p>
        </p:txBody>
      </p:sp>
      <p:sp>
        <p:nvSpPr>
          <p:cNvPr id="17503" name="Rectangle 17502"/>
          <p:cNvSpPr/>
          <p:nvPr/>
        </p:nvSpPr>
        <p:spPr>
          <a:xfrm>
            <a:off x="9326880" y="2011680"/>
            <a:ext cx="2221992" cy="12801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4" name="TextBox 17503"/>
          <p:cNvSpPr txBox="1"/>
          <p:nvPr/>
        </p:nvSpPr>
        <p:spPr>
          <a:xfrm>
            <a:off x="9326880" y="2103120"/>
            <a:ext cx="222199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1B2A39"/>
                </a:solidFill>
                <a:latin typeface="Arial"/>
              </a:rPr>
              <a:t>•  SQLite (WAL) · 26 tables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1B2A39"/>
                </a:solidFill>
                <a:latin typeface="Arial"/>
              </a:rPr>
              <a:t>•  SHA-256 on every original and working copy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1B2A39"/>
                </a:solidFill>
                <a:latin typeface="Arial"/>
              </a:rPr>
              <a:t>•  Append-only audit of who decided what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1B2A39"/>
                </a:solidFill>
                <a:latin typeface="Arial"/>
              </a:rPr>
              <a:t>•  Rule-pack archive and rollback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1B2A39"/>
                </a:solidFill>
                <a:latin typeface="Arial"/>
              </a:rPr>
              <a:t>•  Missing or altered evidence blocks the report</a:t>
            </a:r>
          </a:p>
        </p:txBody>
      </p:sp>
      <p:sp>
        <p:nvSpPr>
          <p:cNvPr id="17505" name="Rounded Rectangle 17504"/>
          <p:cNvSpPr/>
          <p:nvPr/>
        </p:nvSpPr>
        <p:spPr>
          <a:xfrm>
            <a:off x="9189720" y="3712463"/>
            <a:ext cx="2496312" cy="18150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6" name="Rectangle 17505"/>
          <p:cNvSpPr/>
          <p:nvPr/>
        </p:nvSpPr>
        <p:spPr>
          <a:xfrm>
            <a:off x="9189720" y="3712463"/>
            <a:ext cx="2496312" cy="50292"/>
          </a:xfrm>
          <a:prstGeom prst="rect">
            <a:avLst/>
          </a:prstGeom>
          <a:solidFill>
            <a:srgbClr val="417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7" name="TextBox 17506"/>
          <p:cNvSpPr txBox="1"/>
          <p:nvPr/>
        </p:nvSpPr>
        <p:spPr>
          <a:xfrm>
            <a:off x="9326880" y="3858768"/>
            <a:ext cx="2221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417026"/>
                </a:solidFill>
                <a:latin typeface="Arial"/>
              </a:rPr>
              <a:t>WORKING PROTOTYPE</a:t>
            </a:r>
          </a:p>
        </p:txBody>
      </p:sp>
      <p:sp>
        <p:nvSpPr>
          <p:cNvPr id="17508" name="TextBox 17507"/>
          <p:cNvSpPr txBox="1"/>
          <p:nvPr/>
        </p:nvSpPr>
        <p:spPr>
          <a:xfrm>
            <a:off x="9326880" y="4059935"/>
            <a:ext cx="222199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4F81BD"/>
                </a:solidFill>
                <a:latin typeface="Arial"/>
              </a:rPr>
              <a:t>running, not a mock-up</a:t>
            </a:r>
          </a:p>
        </p:txBody>
      </p:sp>
      <p:sp>
        <p:nvSpPr>
          <p:cNvPr id="17509" name="Rectangle 17508"/>
          <p:cNvSpPr/>
          <p:nvPr/>
        </p:nvSpPr>
        <p:spPr>
          <a:xfrm>
            <a:off x="9326880" y="4261103"/>
            <a:ext cx="2221992" cy="12801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0" name="TextBox 17509"/>
          <p:cNvSpPr txBox="1"/>
          <p:nvPr/>
        </p:nvSpPr>
        <p:spPr>
          <a:xfrm>
            <a:off x="9326880" y="4352544"/>
            <a:ext cx="22219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1B2A39"/>
                </a:solidFill>
                <a:latin typeface="Arial"/>
              </a:rPr>
              <a:t>•  Local console runs capture → review → decide → approve → export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1B2A39"/>
                </a:solidFill>
                <a:latin typeface="Arial"/>
              </a:rPr>
              <a:t>•  1,556 automated tests pass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1B2A39"/>
                </a:solidFill>
                <a:latin typeface="Arial"/>
              </a:rPr>
              <a:t>•  Wheel installs clean outside the checkout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1B2A39"/>
                </a:solidFill>
                <a:latin typeface="Arial"/>
              </a:rPr>
              <a:t>•  53-image audit · 40 of 40 checks passed</a:t>
            </a:r>
          </a:p>
        </p:txBody>
      </p:sp>
      <p:sp>
        <p:nvSpPr>
          <p:cNvPr id="17511" name="Rounded Rectangle 17510"/>
          <p:cNvSpPr/>
          <p:nvPr/>
        </p:nvSpPr>
        <p:spPr>
          <a:xfrm>
            <a:off x="502920" y="5650992"/>
            <a:ext cx="11186129" cy="420624"/>
          </a:xfrm>
          <a:prstGeom prst="roundRect">
            <a:avLst>
              <a:gd name="adj" fmla="val 22000"/>
            </a:avLst>
          </a:prstGeom>
          <a:solidFill>
            <a:srgbClr val="13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2" name="TextBox 17511"/>
          <p:cNvSpPr txBox="1"/>
          <p:nvPr/>
        </p:nvSpPr>
        <p:spPr>
          <a:xfrm>
            <a:off x="704088" y="5650992"/>
            <a:ext cx="10783793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Inference is CPU-only by design.  </a:t>
            </a:r>
            <a:r>
              <a:rPr sz="950" b="0" i="0">
                <a:solidFill>
                  <a:srgbClr val="C9D8E8"/>
                </a:solidFill>
                <a:latin typeface="Arial"/>
              </a:rPr>
              <a:t>No GPU anywhere on the serving path, no cloud round trip for a check made on a shop floor — the whole pipeline runs offline on the district-office laptop that is already there.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868680"/>
          </a:xfrm>
        </p:spPr>
        <p:txBody>
          <a:bodyPr wrap="square" anchor="ctr"/>
          <a:lstStyle/>
          <a:p>
            <a:pPr eaLnBrk="1" hangingPunct="1" algn="ctr"/>
            <a:r>
              <a:rPr sz="3000" b="1">
                <a:solidFill>
                  <a:srgbClr val="1F497D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 w="12700">
            <a:solidFill>
              <a:srgbClr val="7C9CC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0000"/>
              </a:lnSpc>
            </a:pPr>
            <a:r>
              <a:rPr sz="850" b="1">
                <a:solidFill>
                  <a:srgbClr val="1F497D"/>
                </a:solidFill>
                <a:latin typeface="Arial"/>
              </a:rPr>
              <a:t>Your
Team
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188720"/>
            <a:ext cx="1118612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1F497D"/>
                </a:solidFill>
                <a:latin typeface="Arial"/>
              </a:rPr>
              <a:t>ANALYSIS OF FEASIBILITY · POTENTIAL CHALLENGES AND RISKS · STRATEGIES FOR OVERCOMING THEM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403604"/>
            <a:ext cx="11186129" cy="16459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536192"/>
            <a:ext cx="208483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10">
                <a:solidFill>
                  <a:srgbClr val="1F497D"/>
                </a:solidFill>
                <a:latin typeface="Arial"/>
              </a:rPr>
              <a:t>POTENTIAL CHALLENGE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697480" y="1536192"/>
            <a:ext cx="2487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10">
                <a:solidFill>
                  <a:srgbClr val="1F497D"/>
                </a:solidFill>
                <a:latin typeface="Arial"/>
              </a:rPr>
              <a:t>WHY IT IS HARD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294376" y="1536192"/>
            <a:ext cx="37856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10">
                <a:solidFill>
                  <a:srgbClr val="1F497D"/>
                </a:solidFill>
                <a:latin typeface="Arial"/>
              </a:rPr>
              <a:t>OUR STRATEGY FOR OVERCOMING IT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189720" y="1536192"/>
            <a:ext cx="24963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10">
                <a:solidFill>
                  <a:srgbClr val="1F497D"/>
                </a:solidFill>
                <a:latin typeface="Arial"/>
              </a:rPr>
              <a:t>FEASIBILITY EVIDENCE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502920" y="1737360"/>
            <a:ext cx="11186129" cy="12801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02920" y="1801368"/>
            <a:ext cx="11186129" cy="969264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502920" y="1874520"/>
            <a:ext cx="164592" cy="164592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02920" y="1874520"/>
            <a:ext cx="1645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40664" y="1874519"/>
            <a:ext cx="1847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32E4D"/>
                </a:solidFill>
                <a:latin typeface="Arial"/>
              </a:rPr>
              <a:t>A photograph has no scale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697480" y="1874519"/>
            <a:ext cx="2359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27384"/>
                </a:solidFill>
                <a:latin typeface="Arial"/>
              </a:rPr>
              <a:t>An image records angles, not distances, so a small pack close up and a large one further away give the same picture. Across our 14 real photographs, 0 carried an EXIF subject distance and 12 carried no EXIF.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294376" y="1874519"/>
            <a:ext cx="363931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B2A39"/>
                </a:solidFill>
                <a:latin typeface="Arial"/>
              </a:rPr>
              <a:t>A printed ArUco card in frame gives a Tier B millimetre. Panel area is bracketed from the image itself — text hull as floor, package edge as ceiling — and reported as an interval, never a point estimate. Where no scale reached the camera, we sweep every package size the declared quantity allows and report only the rules whose outcome cannot change.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189720" y="1865376"/>
            <a:ext cx="2496312" cy="841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7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9299448" y="1938528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97D"/>
                </a:solidFill>
                <a:latin typeface="Arial"/>
              </a:rPr>
              <a:t>8 / 8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299448" y="2203704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27384"/>
                </a:solidFill>
                <a:latin typeface="Arial"/>
              </a:rPr>
              <a:t>the bracketed panel area contained the true value, at 35% median relative uncertainty</a:t>
            </a:r>
          </a:p>
        </p:txBody>
      </p:sp>
      <p:sp>
        <p:nvSpPr>
          <p:cNvPr id="17426" name="Oval 17425"/>
          <p:cNvSpPr/>
          <p:nvPr/>
        </p:nvSpPr>
        <p:spPr>
          <a:xfrm>
            <a:off x="502920" y="2894076"/>
            <a:ext cx="164592" cy="164592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502920" y="2894076"/>
            <a:ext cx="1645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40664" y="2894076"/>
            <a:ext cx="1847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32E4D"/>
                </a:solidFill>
                <a:latin typeface="Arial"/>
              </a:rPr>
              <a:t>Real packages defeat OCR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697480" y="2894076"/>
            <a:ext cx="2359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27384"/>
                </a:solidFill>
                <a:latin typeface="Arial"/>
              </a:rPr>
              <a:t>Dot-matrix date codes, glare, curved packs and Devanagari all degrade recognition, and a confident wrong read is far worse than no read.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294376" y="2894076"/>
            <a:ext cx="363931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B2A39"/>
                </a:solidFill>
                <a:latin typeface="Arial"/>
              </a:rPr>
              <a:t>Every value is scored found vs trusted. An untrusted value is retained as a review candidate and can never on its own establish a violation or an absence. Tesseract with hin data is the second recogniser for Devanagari, and the record says so explicitly when it is missing.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9189720" y="2884932"/>
            <a:ext cx="2496312" cy="841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7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9299448" y="2958084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97D"/>
                </a:solidFill>
                <a:latin typeface="Arial"/>
              </a:rPr>
              <a:t>105 / 109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299448" y="322326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27384"/>
                </a:solidFill>
                <a:latin typeface="Arial"/>
              </a:rPr>
              <a:t>printed values recovered across 24 degraded labels · 0 wrong acceptances on 10 real photographs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02920" y="3840480"/>
            <a:ext cx="11186129" cy="969264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5" name="Oval 17434"/>
          <p:cNvSpPr/>
          <p:nvPr/>
        </p:nvSpPr>
        <p:spPr>
          <a:xfrm>
            <a:off x="502920" y="3913632"/>
            <a:ext cx="164592" cy="164592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502920" y="3913632"/>
            <a:ext cx="1645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40664" y="3913632"/>
            <a:ext cx="1847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32E4D"/>
                </a:solidFill>
                <a:latin typeface="Arial"/>
              </a:rPr>
              <a:t>The Rules keep changing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2697480" y="3913632"/>
            <a:ext cx="2359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27384"/>
                </a:solidFill>
                <a:latin typeface="Arial"/>
              </a:rPr>
              <a:t>Clauses commence on different dates and some were later corrected. A hardcoded checker is wrong the day it ships, and silently rewrites past cases when it is upgraded.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294376" y="3913632"/>
            <a:ext cx="363931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B2A39"/>
                </a:solidFill>
                <a:latin typeface="Arial"/>
              </a:rPr>
              <a:t>Rules are versioned JSON carrying temporal validity and a source citation, not Python. Superseded packs are archived, so a historical record keeps the verdicts it was actually decided under. Reading the Gazette ourselves withdrew one rule outright and corrected two more rather than ship them.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189720" y="3904488"/>
            <a:ext cx="2496312" cy="841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7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9299448" y="3977640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97D"/>
                </a:solidFill>
                <a:latin typeface="Arial"/>
              </a:rPr>
              <a:t>18 rules · 24 sources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9299448" y="424281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27384"/>
                </a:solidFill>
                <a:latin typeface="Arial"/>
              </a:rPr>
              <a:t>pack 2026.09.07-legal-review-1, every clause linked to the official PDF it came from</a:t>
            </a:r>
          </a:p>
        </p:txBody>
      </p:sp>
      <p:sp>
        <p:nvSpPr>
          <p:cNvPr id="17443" name="Oval 17442"/>
          <p:cNvSpPr/>
          <p:nvPr/>
        </p:nvSpPr>
        <p:spPr>
          <a:xfrm>
            <a:off x="502920" y="4933188"/>
            <a:ext cx="164592" cy="164592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502920" y="4933188"/>
            <a:ext cx="1645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740664" y="4933188"/>
            <a:ext cx="1847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32E4D"/>
                </a:solidFill>
                <a:latin typeface="Arial"/>
              </a:rPr>
              <a:t>A wrong accusation is costly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2697480" y="4933188"/>
            <a:ext cx="2359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27384"/>
                </a:solidFill>
                <a:latin typeface="Arial"/>
              </a:rPr>
              <a:t>An automated finding could be mistaken for legal proof, and a marketplace listing image need not even depict the package that ships.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5294376" y="4933188"/>
            <a:ext cx="363931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B2A39"/>
                </a:solidFill>
                <a:latin typeface="Arial"/>
              </a:rPr>
              <a:t>Three independent gates, each able only to demote. Citizen and marketplace lanes are advisory by construction. The inspector drafts, an independent supervisor approves, every action is audited append-only, and no notice is ever issued automatically — the statutory decision stays with a human officer.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9189720" y="4924044"/>
            <a:ext cx="2496312" cy="841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7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9299448" y="4997196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97D"/>
                </a:solidFill>
                <a:latin typeface="Arial"/>
              </a:rPr>
              <a:t>1,556 tests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9299448" y="5262372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27384"/>
                </a:solidFill>
                <a:latin typeface="Arial"/>
              </a:rPr>
              <a:t>full suite green · wheel verified installing clean outside the checkout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502920" y="5815584"/>
            <a:ext cx="11186129" cy="420624"/>
          </a:xfrm>
          <a:prstGeom prst="roundRect">
            <a:avLst>
              <a:gd name="adj" fmla="val 5500"/>
            </a:avLst>
          </a:prstGeom>
          <a:solidFill>
            <a:srgbClr val="FDF5E6"/>
          </a:solidFill>
          <a:ln w="9525">
            <a:solidFill>
              <a:srgbClr val="E4C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2" name="Rectangle 17451"/>
          <p:cNvSpPr/>
          <p:nvPr/>
        </p:nvSpPr>
        <p:spPr>
          <a:xfrm>
            <a:off x="502920" y="5815584"/>
            <a:ext cx="68580" cy="420624"/>
          </a:xfrm>
          <a:prstGeom prst="rect">
            <a:avLst/>
          </a:prstGeom>
          <a:solidFill>
            <a:srgbClr val="A96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722376" y="5815584"/>
            <a:ext cx="1077464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A9680E"/>
                </a:solidFill>
                <a:latin typeface="Arial"/>
              </a:rPr>
              <a:t>STILL OPEN BEFORE DEPLOYMENT   </a:t>
            </a:r>
            <a:r>
              <a:rPr sz="880" b="0" i="0">
                <a:solidFill>
                  <a:srgbClr val="1B2A39"/>
                </a:solidFill>
                <a:latin typeface="Arial"/>
              </a:rPr>
              <a:t>independent legal sign-off on the rule pack · physical metrology validation of the printed scale card · a representative multi-state OCR evaluation · formal accessibility certification. We name these rather than claim they are done.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868680"/>
          </a:xfrm>
        </p:spPr>
        <p:txBody>
          <a:bodyPr wrap="square" anchor="ctr"/>
          <a:lstStyle/>
          <a:p>
            <a:pPr eaLnBrk="1" hangingPunct="1" algn="ctr"/>
            <a:r>
              <a:rPr sz="3000" b="1">
                <a:solidFill>
                  <a:srgbClr val="1F497D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 w="12700">
            <a:solidFill>
              <a:srgbClr val="7C9CC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0000"/>
              </a:lnSpc>
            </a:pPr>
            <a:r>
              <a:rPr sz="850" b="1">
                <a:solidFill>
                  <a:srgbClr val="1F497D"/>
                </a:solidFill>
                <a:latin typeface="Arial"/>
              </a:rPr>
              <a:t>Your
Team
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188720"/>
            <a:ext cx="1118612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403604"/>
            <a:ext cx="11186129" cy="16459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81328"/>
            <a:ext cx="2679946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02920" y="1481328"/>
            <a:ext cx="2679946" cy="5029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30936" y="1618488"/>
            <a:ext cx="24239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LEGAL METROLOGY
INSPECTOR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0936" y="2011680"/>
            <a:ext cx="242391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4F81BD"/>
                </a:solidFill>
                <a:latin typeface="Arial"/>
              </a:rPr>
              <a:t>field lane · may sustain a violation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30936" y="2212848"/>
            <a:ext cx="2423914" cy="12801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30936" y="2304288"/>
            <a:ext cx="242391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Clause-cited findings, each with the crop it was read from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No tape measure — panel size comes from the photograph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Told when a second visit with a card would change nothing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338314" y="1481328"/>
            <a:ext cx="2679946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3338314" y="1481328"/>
            <a:ext cx="2679946" cy="5029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3466330" y="1618488"/>
            <a:ext cx="24239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CONTROLLER /
SUPERVISOR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466330" y="2011680"/>
            <a:ext cx="242391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4F81BD"/>
                </a:solidFill>
                <a:latin typeface="Arial"/>
              </a:rPr>
              <a:t>approval lane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3466330" y="2212848"/>
            <a:ext cx="2423914" cy="12801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3466330" y="2304288"/>
            <a:ext cx="242391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Approves or returns findings they did not contribute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District-level coverage on the dashboard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Append-only record of who decided what, on which evidence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73708" y="1481328"/>
            <a:ext cx="2679946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6173708" y="1481328"/>
            <a:ext cx="2679946" cy="5029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301724" y="1618488"/>
            <a:ext cx="24239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MANUFACTURER /
PACKER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301724" y="2011680"/>
            <a:ext cx="242391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4F81BD"/>
                </a:solidFill>
                <a:latin typeface="Arial"/>
              </a:rPr>
              <a:t>pre-market lane · Tier A, exact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6301724" y="2212848"/>
            <a:ext cx="2423914" cy="12801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301724" y="2304288"/>
            <a:ext cx="242391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Own artwork checked before the print run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Read from vector source, so no estimation at all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Fixed on screen rather than after a seizure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009103" y="1481328"/>
            <a:ext cx="2679946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9009103" y="1481328"/>
            <a:ext cx="2679946" cy="5029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9137119" y="1618488"/>
            <a:ext cx="24239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CONSUMER /
CITIZEN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137119" y="2011680"/>
            <a:ext cx="242391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4F81BD"/>
                </a:solidFill>
                <a:latin typeface="Arial"/>
              </a:rPr>
              <a:t>citizen lane · advisory referral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9137119" y="2212848"/>
            <a:ext cx="2423914" cy="12801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9137119" y="2304288"/>
            <a:ext cx="242391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A shelf photograph becomes a referral for an inspector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Deterministic allergen screen, FSS Labelling 2020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Quotes the exact words it matched, never a guess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02920" y="3474720"/>
            <a:ext cx="1118612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1F497D"/>
                </a:solidFill>
                <a:latin typeface="Arial"/>
              </a:rPr>
              <a:t>BENEFITS OF THE SOLUTION (SOCIAL, ECONOMIC, ENVIRONMENTAL)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502920" y="3689604"/>
            <a:ext cx="11186129" cy="16459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502920" y="3767328"/>
            <a:ext cx="3612885" cy="1664208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9" name="Rectangle 17438"/>
          <p:cNvSpPr/>
          <p:nvPr/>
        </p:nvSpPr>
        <p:spPr>
          <a:xfrm>
            <a:off x="502920" y="3767328"/>
            <a:ext cx="3612885" cy="50292"/>
          </a:xfrm>
          <a:prstGeom prst="rect">
            <a:avLst/>
          </a:prstGeom>
          <a:solidFill>
            <a:srgbClr val="417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49224" y="3931920"/>
            <a:ext cx="332027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417026"/>
                </a:solidFill>
                <a:latin typeface="Arial"/>
              </a:rPr>
              <a:t>SOCIAL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49224" y="4224528"/>
            <a:ext cx="332027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1B2A39"/>
                </a:solidFill>
                <a:latin typeface="Arial"/>
              </a:rPr>
              <a:t>•  One evidence standard in every district — a finding stops depending on which officer holds the ruler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1B2A39"/>
                </a:solidFill>
                <a:latin typeface="Arial"/>
              </a:rPr>
              <a:t>•  Hindi in Devanagari read on the same footing as English, because Rule 9(4) puts it there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1B2A39"/>
                </a:solidFill>
                <a:latin typeface="Arial"/>
              </a:rPr>
              <a:t>•  Allergen referrals reach the consumer instead of stopping at the file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289541" y="3767328"/>
            <a:ext cx="3612885" cy="1664208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3" name="Rectangle 17442"/>
          <p:cNvSpPr/>
          <p:nvPr/>
        </p:nvSpPr>
        <p:spPr>
          <a:xfrm>
            <a:off x="4289541" y="3767328"/>
            <a:ext cx="3612885" cy="50292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4435845" y="3931920"/>
            <a:ext cx="332027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1F497D"/>
                </a:solidFill>
                <a:latin typeface="Arial"/>
              </a:rPr>
              <a:t>ECONOMIC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435845" y="4224528"/>
            <a:ext cx="332027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1B2A39"/>
                </a:solidFill>
                <a:latin typeface="Arial"/>
              </a:rPr>
              <a:t>•  Fewer wrongful notices — the system abstains instead of guessing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1B2A39"/>
                </a:solidFill>
                <a:latin typeface="Arial"/>
              </a:rPr>
              <a:t>•  Fewer wasted second visits: it says outright when a re-capture would change nothing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1B2A39"/>
                </a:solidFill>
                <a:latin typeface="Arial"/>
              </a:rPr>
              <a:t>•  Defects caught in artwork, before a run is printed, filled and shipped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8076163" y="3767328"/>
            <a:ext cx="3612885" cy="1664208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8076163" y="3767328"/>
            <a:ext cx="3612885" cy="5029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8222467" y="3931920"/>
            <a:ext cx="332027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4F81BD"/>
                </a:solidFill>
                <a:latin typeface="Arial"/>
              </a:rPr>
              <a:t>ENVIRONMENTAL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222467" y="4224528"/>
            <a:ext cx="332027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1B2A39"/>
                </a:solidFill>
                <a:latin typeface="Arial"/>
              </a:rPr>
              <a:t>•  A label defect caught pre-print is packaging that never has to be destroyed or over-stickered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1B2A39"/>
                </a:solidFill>
                <a:latin typeface="Arial"/>
              </a:rPr>
              <a:t>•  CPU-only inference adds no GPU procurement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1B2A39"/>
                </a:solidFill>
                <a:latin typeface="Arial"/>
              </a:rPr>
              <a:t>•  Runs on the office laptop already in the building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502920" y="5614416"/>
            <a:ext cx="11186129" cy="457200"/>
          </a:xfrm>
          <a:prstGeom prst="roundRect">
            <a:avLst>
              <a:gd name="adj" fmla="val 20000"/>
            </a:avLst>
          </a:prstGeom>
          <a:solidFill>
            <a:srgbClr val="13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704088" y="5614416"/>
            <a:ext cx="1078379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FFFFFF"/>
                </a:solidFill>
                <a:latin typeface="Arial"/>
              </a:rPr>
              <a:t>SYSTEM-LEVEL   </a:t>
            </a:r>
            <a:r>
              <a:rPr sz="900" b="0" i="0">
                <a:solidFill>
                  <a:srgbClr val="C9D8E8"/>
                </a:solidFill>
                <a:latin typeface="Arial"/>
              </a:rPr>
              <a:t>The Jan Vishwas (Amendment of Provisions) Act, 2026 replaced section 36(1) with an improvement notice for a first offence, in force since 1 May 2026. A screen that abstains rather than over-accuses, and leaves the statutory decision with a human officer, is what that regime asks of software.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868680"/>
          </a:xfrm>
        </p:spPr>
        <p:txBody>
          <a:bodyPr wrap="square" anchor="ctr"/>
          <a:lstStyle/>
          <a:p>
            <a:pPr eaLnBrk="1" hangingPunct="1" algn="ctr"/>
            <a:r>
              <a:rPr sz="3000" b="1">
                <a:solidFill>
                  <a:srgbClr val="1F497D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 w="12700">
            <a:solidFill>
              <a:srgbClr val="7C9CC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0000"/>
              </a:lnSpc>
            </a:pPr>
            <a:r>
              <a:rPr sz="850" b="1">
                <a:solidFill>
                  <a:srgbClr val="1F497D"/>
                </a:solidFill>
                <a:latin typeface="Arial"/>
              </a:rPr>
              <a:t>Your
Team
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188720"/>
            <a:ext cx="1118612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3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403604"/>
            <a:ext cx="11186129" cy="16459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81328"/>
            <a:ext cx="3612885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502920" y="1481328"/>
            <a:ext cx="3612885" cy="50292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40080" y="1627632"/>
            <a:ext cx="333856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1F497D"/>
                </a:solidFill>
                <a:latin typeface="Arial"/>
              </a:rPr>
              <a:t>PRIMARY LAW — OFFICIAL GAZETTE PDFs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0080" y="1956816"/>
            <a:ext cx="333856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4F81BD"/>
                </a:solidFill>
                <a:latin typeface="Arial"/>
              </a:rPr>
              <a:t>consumeraffairs.gov.in · sansad.in · fssai.gov.in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40080" y="2157984"/>
            <a:ext cx="3338565" cy="12801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40080" y="2249424"/>
            <a:ext cx="3338565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Legal Metrology (Packaged Commodities) Rules, 2011 — the base text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2017 amendment and its November 2017 corrigendum — Table I letter heights; the corrigendum sets the first blown/formed cell to 2.0 mm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G.S.R. 385(E), 2015 — Rule 6(2) consumer care, in force 1 Jan 2016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G.S.R. 226(E) — prescribed unit-sale-price basis; Rule 6(11) from 1 Jan 2024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Rajya Sabha AU1181, 11 Feb 2022 — Rule 9(4): Hindi in Devanagari or English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Jan Vishwas Act 2026, Sch. 66(N) with S.O. 2103(E) — section 36(1), from 1 May 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FSSAI Labelling and Display Regulations compendium — allergen declaration, reg. 5(3)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289541" y="1481328"/>
            <a:ext cx="3612885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4289541" y="1481328"/>
            <a:ext cx="3612885" cy="50292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426701" y="1627632"/>
            <a:ext cx="333856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1F497D"/>
                </a:solidFill>
                <a:latin typeface="Arial"/>
              </a:rPr>
              <a:t>MEASUREMENT STANDARDS AND METHOD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426701" y="1956816"/>
            <a:ext cx="333856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4F81BD"/>
                </a:solidFill>
                <a:latin typeface="Arial"/>
              </a:rPr>
              <a:t>how a measurement becomes a defensible statement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4426701" y="2157984"/>
            <a:ext cx="3338565" cy="12801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426701" y="2249424"/>
            <a:ext cx="3338565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ILAC-G8:09/2019 — decision rules and guard bands for statements of conformity. This is why a straddling measurement returns INCONCLUSIVE.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JCGM 100:2008 (GUM) — expanded uncertainty; every millimetre on this deck is reported at k =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Kleene three-valued logic — the basis for a verdict set that is allowed to say ‘unknown’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Garrido-Jurado et al. — ArUco fiducial markers, the in-frame scale reference the scale card prints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Guard banding applied to Table I of Rule 7(2): the acceptance interval is narrowed by the expanded uncertainty, so the system never convicts inside its own error bar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076163" y="1481328"/>
            <a:ext cx="3612885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8076163" y="1481328"/>
            <a:ext cx="3612885" cy="50292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8213323" y="1627632"/>
            <a:ext cx="333856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1F497D"/>
                </a:solidFill>
                <a:latin typeface="Arial"/>
              </a:rPr>
              <a:t>TECHNOLOGY REFERENCES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213323" y="1956816"/>
            <a:ext cx="333856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4F81BD"/>
                </a:solidFill>
                <a:latin typeface="Arial"/>
              </a:rPr>
              <a:t>everything on the serving path runs on CPU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8213323" y="2157984"/>
            <a:ext cx="3338565" cy="12801"/>
          </a:xfrm>
          <a:prstGeom prst="rect">
            <a:avLst/>
          </a:prstGeom>
          <a:solidFill>
            <a:srgbClr val="C3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8213323" y="2249424"/>
            <a:ext cx="3338565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PP-OCRv4 detection and recognition, served through RapidOCR on ONNX Runtime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Tesseract 5 with hin traineddata — Devanagari recognition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OpenCV-contrib cv2.aruco for markers; zxing-cpp for GTIN decoding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FastAPI · pydantic v2 · SQLite (WAL) · ReportLab · python-docx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pillow-heif — HEIC uploads straight from an inspector’s phone; originals are never re-encoded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Open Food Facts was deliberately NOT used: its robots.txt disallows /api for all agents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02920" y="4663440"/>
            <a:ext cx="11186129" cy="1572768"/>
          </a:xfrm>
          <a:prstGeom prst="roundRect">
            <a:avLst>
              <a:gd name="adj" fmla="val 5500"/>
            </a:avLst>
          </a:prstGeom>
          <a:solidFill>
            <a:srgbClr val="DDE7F3"/>
          </a:solidFill>
          <a:ln w="9525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502920" y="4663440"/>
            <a:ext cx="68580" cy="157276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22376" y="4800600"/>
            <a:ext cx="1074721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00">
                <a:solidFill>
                  <a:srgbClr val="1F497D"/>
                </a:solidFill>
                <a:latin typeface="Arial"/>
              </a:rPr>
              <a:t>OUR OWN MEASUREMENTS   </a:t>
            </a:r>
            <a:r>
              <a:rPr sz="900" b="0" i="1">
                <a:solidFill>
                  <a:srgbClr val="627384"/>
                </a:solidFill>
                <a:latin typeface="Arial"/>
              </a:rPr>
              <a:t>every figure on this deck reproduces from the repository, with the script that produced it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722376" y="5065776"/>
            <a:ext cx="10747217" cy="12801"/>
          </a:xfrm>
          <a:prstGeom prst="rect">
            <a:avLst/>
          </a:prstGeom>
          <a:solidFill>
            <a:srgbClr val="7C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722376" y="5175504"/>
            <a:ext cx="523644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docs/LEGAL_SOURCE_MATRIX.md — 24 primary sources audited clause by clause; rules withdrawn or corrected where the sources did not bear them out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docs/OCR_CAPABILITY.md — 105 of 109 printed values recovered across 24 degraded labels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out/panel-accuracy/results.json — the bracketed panel area contained the truth in 8 of 8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233144" y="5175504"/>
            <a:ext cx="523644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out/real-label-evaluation-rescan-final/REPORT.md — 12/16 accepted exactly on 10 real photographs, 0 wrong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data/evaluation/ingredient-panels/ — 7 Wikimedia CC-licensed panels; 0 false positives, both traps clean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39"/>
                </a:solidFill>
                <a:latin typeface="Arial"/>
              </a:rPr>
              <a:t>•  out/hindi-allergen-measurement/results.json — Devanagari screening through real recognition, end to end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22376" y="5961888"/>
            <a:ext cx="1074721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27384"/>
                </a:solidFill>
                <a:latin typeface="Arial"/>
              </a:rPr>
              <a:t>Evaluation photographs are Wikimedia Commons CC BY / CC BY-SA; attribution is retained in sources.json and travels with the images. These are unblinded development sets, not independent accuracy estimates — stated as such wherever they are quoted.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